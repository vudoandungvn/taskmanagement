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0972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Yu Gothic UI"/>
              </a:rPr>
              <a:t>📋 Task Management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D4D4D8"/>
                </a:solidFill>
                <a:latin typeface="Yu Gothic UI"/>
              </a:rPr>
              <a:t>プロジェクトとタスクをチームで管理するフルスタック Web アプリ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38020"/>
                </a:solidFill>
                <a:latin typeface="Yu Gothic UI"/>
              </a:rPr>
              <a:t>Next.js 15 · Cloudflare Workers · D1 · R2 · Firebase Auth · Resend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2525B"/>
                </a:solidFill>
                <a:latin typeface="Yu Gothic UI"/>
              </a:rPr>
              <a:t>製品紹介プレゼンテーション — 2026年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8181B"/>
                </a:solidFill>
                <a:latin typeface="Yu Gothic UI"/>
              </a:rPr>
              <a:t>🎯 製品概要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2926080" cy="508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4572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52525B"/>
                </a:solidFill>
                <a:latin typeface="Yu Gothic UI"/>
              </a:rPr>
              <a:t>認証済みユーザーが自分の仕事を整理・追跡できる生産性ツールです。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900" b="1">
                <a:solidFill>
                  <a:srgbClr val="F38020"/>
                </a:solidFill>
                <a:latin typeface="Yu Gothic UI"/>
              </a:rPr>
              <a:t>●  </a:t>
            </a:r>
            <a:r>
              <a:rPr sz="1900">
                <a:solidFill>
                  <a:srgbClr val="18181B"/>
                </a:solidFill>
                <a:latin typeface="Yu Gothic UI"/>
              </a:rPr>
              <a:t>仕事を プロジェクト（Projects）単位でまとめる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900" b="1">
                <a:solidFill>
                  <a:srgbClr val="F38020"/>
                </a:solidFill>
                <a:latin typeface="Yu Gothic UI"/>
              </a:rPr>
              <a:t>●  </a:t>
            </a:r>
            <a:r>
              <a:rPr sz="1900">
                <a:solidFill>
                  <a:srgbClr val="18181B"/>
                </a:solidFill>
                <a:latin typeface="Yu Gothic UI"/>
              </a:rPr>
              <a:t>プロジェクトを追跡可能な タスク（Tasks）に分解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900" b="1">
                <a:solidFill>
                  <a:srgbClr val="F38020"/>
                </a:solidFill>
                <a:latin typeface="Yu Gothic UI"/>
              </a:rPr>
              <a:t>●  </a:t>
            </a:r>
            <a:r>
              <a:rPr sz="1900">
                <a:solidFill>
                  <a:srgbClr val="18181B"/>
                </a:solidFill>
                <a:latin typeface="Yu Gothic UI"/>
              </a:rPr>
              <a:t>チーム（Teams）で共同作業し、メンバーをメールで招待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900" b="1">
                <a:solidFill>
                  <a:srgbClr val="F38020"/>
                </a:solidFill>
                <a:latin typeface="Yu Gothic UI"/>
              </a:rPr>
              <a:t>●  </a:t>
            </a:r>
            <a:r>
              <a:rPr sz="1900">
                <a:solidFill>
                  <a:srgbClr val="18181B"/>
                </a:solidFill>
                <a:latin typeface="Yu Gothic UI"/>
              </a:rPr>
              <a:t>ステータス・優先度・期限・画像添付に対応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900" b="1">
                <a:solidFill>
                  <a:srgbClr val="F38020"/>
                </a:solidFill>
                <a:latin typeface="Yu Gothic UI"/>
              </a:rPr>
              <a:t>●  </a:t>
            </a:r>
            <a:r>
              <a:rPr sz="1900">
                <a:solidFill>
                  <a:srgbClr val="18181B"/>
                </a:solidFill>
                <a:latin typeface="Yu Gothic UI"/>
              </a:rPr>
              <a:t>エッジで高速・低コストに動作（常時稼働サーバー不要）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8181B"/>
                </a:solidFill>
                <a:latin typeface="Yu Gothic UI"/>
              </a:rPr>
              <a:t>✨ 主な機能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2926080" cy="508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4572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5448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カテゴリ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内容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🔐 認証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登録・ログイン・メール認証・パスワードリセット（Firebase）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📁 プロジェクト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作成 / 編集 / 削除、サムネイル画像、進捗統計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 タスク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ステータス・優先度・担当者・タグ・期限・画像・コメント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👥 チーム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チーム作成、メンバー管理、メール招待、プロジェクト割当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🖼️ 画像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プロジェクト / タスク / アバターを R2 に保存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🌐 多言語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英語（既定）・日本語・ベトナム語の3言語対応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8181B"/>
                </a:solidFill>
                <a:latin typeface="Yu Gothic UI"/>
              </a:rPr>
              <a:t>🏗️ アーキテクチャ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2926080" cy="508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4572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40233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>
                <a:solidFill>
                  <a:srgbClr val="18181B"/>
                </a:solidFill>
                <a:latin typeface="Yu Gothic UI"/>
              </a:rPr>
              <a:t>Next.js 15（フロントエンド）</a:t>
            </a:r>
          </a:p>
          <a:p>
            <a:pPr algn="ctr"/>
            <a:r>
              <a:rPr sz="1050">
                <a:solidFill>
                  <a:srgbClr val="52525B"/>
                </a:solidFill>
                <a:latin typeface="Yu Gothic UI"/>
              </a:rPr>
              <a:t>app/ · components/ · Firebase Web SDK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783080"/>
            <a:ext cx="40233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>
                <a:solidFill>
                  <a:srgbClr val="18181B"/>
                </a:solidFill>
                <a:latin typeface="Yu Gothic UI"/>
              </a:rPr>
              <a:t>Cloudflare Worker (Hono)</a:t>
            </a:r>
          </a:p>
          <a:p>
            <a:pPr algn="ctr"/>
            <a:r>
              <a:rPr sz="1050">
                <a:solidFill>
                  <a:srgbClr val="52525B"/>
                </a:solidFill>
                <a:latin typeface="Yu Gothic UI"/>
              </a:rPr>
              <a:t>Firebase ID JWT を検証 ·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74519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2525B"/>
                </a:solidFill>
                <a:latin typeface="Yu Gothic UI"/>
              </a:rPr>
              <a:t>HTTPS / CORS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0600" y="2286000"/>
            <a:ext cx="2514600" cy="411480"/>
          </a:xfrm>
          <a:prstGeom prst="rightArrow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74320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2525B"/>
                </a:solidFill>
                <a:latin typeface="Yu Gothic UI"/>
              </a:rPr>
              <a:t>ID トークン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441448" y="3246120"/>
            <a:ext cx="411480" cy="109728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8001000" y="3246120"/>
            <a:ext cx="365760" cy="109728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9372600" y="3246120"/>
            <a:ext cx="365760" cy="109728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10771632" y="3246120"/>
            <a:ext cx="365760" cy="109728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40233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>
                <a:solidFill>
                  <a:srgbClr val="18181B"/>
                </a:solidFill>
                <a:latin typeface="Yu Gothic UI"/>
              </a:rPr>
              <a:t>Firebase Auth</a:t>
            </a:r>
          </a:p>
          <a:p>
            <a:pPr algn="ctr"/>
            <a:r>
              <a:rPr sz="1050">
                <a:solidFill>
                  <a:srgbClr val="52525B"/>
                </a:solidFill>
                <a:latin typeface="Yu Gothic UI"/>
              </a:rPr>
              <a:t>認証（マネージド）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434840"/>
            <a:ext cx="1188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8181B"/>
                </a:solidFill>
                <a:latin typeface="Yu Gothic UI"/>
              </a:rPr>
              <a:t>D1</a:t>
            </a:r>
          </a:p>
          <a:p>
            <a:pPr algn="ctr"/>
            <a:r>
              <a:rPr sz="1050">
                <a:solidFill>
                  <a:srgbClr val="52525B"/>
                </a:solidFill>
                <a:latin typeface="Yu Gothic UI"/>
              </a:rPr>
              <a:t>SQLite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4434840"/>
            <a:ext cx="1188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8181B"/>
                </a:solidFill>
                <a:latin typeface="Yu Gothic UI"/>
              </a:rPr>
              <a:t>R2</a:t>
            </a:r>
          </a:p>
          <a:p>
            <a:pPr algn="ctr"/>
            <a:r>
              <a:rPr sz="1050">
                <a:solidFill>
                  <a:srgbClr val="52525B"/>
                </a:solidFill>
                <a:latin typeface="Yu Gothic UI"/>
              </a:rPr>
              <a:t>画像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4434840"/>
            <a:ext cx="12801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8181B"/>
                </a:solidFill>
                <a:latin typeface="Yu Gothic UI"/>
              </a:rPr>
              <a:t>Resend</a:t>
            </a:r>
          </a:p>
          <a:p>
            <a:pPr algn="ctr"/>
            <a:r>
              <a:rPr sz="1050">
                <a:solidFill>
                  <a:srgbClr val="52525B"/>
                </a:solidFill>
                <a:latin typeface="Yu Gothic UI"/>
              </a:rPr>
              <a:t>メール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フロントは ID トークン付きで Worker を呼び出し、Worker が D1 / R2 / Resend を制御します。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8181B"/>
                </a:solidFill>
                <a:latin typeface="Yu Gothic UI"/>
              </a:rPr>
              <a:t>🧰 技術スタック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2926080" cy="508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4572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レイヤー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技術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フロントエンド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Next.js 15 (App Router) + React 19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UI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Tailwind CSS + Radix UI + lucide-react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データ取得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TanStack Query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フォーム / 検証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React Hook Form + Zod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認証（クライアント）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Firebase Web SDK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API ランタイム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Cloudflare Workers + Hono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データベース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Cloudflare D1 (SQLite)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ファイル保存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Cloudflare R2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メール送信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8181B"/>
                          </a:solidFill>
                          <a:latin typeface="Yu Gothic UI"/>
                        </a:rPr>
                        <a:t>Resend (HTTP API)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8181B"/>
                </a:solidFill>
                <a:latin typeface="Yu Gothic UI"/>
              </a:rPr>
              <a:t>👥 注目機能：チーム（Teams）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2926080" cy="508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4572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2525B"/>
                </a:solidFill>
                <a:latin typeface="Yu Gothic UI"/>
              </a:rPr>
              <a:t>仕事をチーム単位で共同管理できる、今回の目玉機能です。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F38020"/>
                </a:solidFill>
                <a:latin typeface="Yu Gothic UI"/>
              </a:rPr>
              <a:t>➕  </a:t>
            </a:r>
            <a:r>
              <a:rPr sz="1800">
                <a:solidFill>
                  <a:srgbClr val="18181B"/>
                </a:solidFill>
                <a:latin typeface="Yu Gothic UI"/>
              </a:rPr>
              <a:t>サイドバーからワンクリックでチーム作成（画像・公開範囲）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F38020"/>
                </a:solidFill>
                <a:latin typeface="Yu Gothic UI"/>
              </a:rPr>
              <a:t>📜  </a:t>
            </a:r>
            <a:r>
              <a:rPr sz="1800">
                <a:solidFill>
                  <a:srgbClr val="18181B"/>
                </a:solidFill>
                <a:latin typeface="Yu Gothic UI"/>
              </a:rPr>
              <a:t>チーム一覧（無限スクロールで大量データも快適）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F38020"/>
                </a:solidFill>
                <a:latin typeface="Yu Gothic UI"/>
              </a:rPr>
              <a:t>🔍  </a:t>
            </a:r>
            <a:r>
              <a:rPr sz="1800">
                <a:solidFill>
                  <a:srgbClr val="18181B"/>
                </a:solidFill>
                <a:latin typeface="Yu Gothic UI"/>
              </a:rPr>
              <a:t>チーム詳細：メンバー・役割・プロジェクトを一覧表示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F38020"/>
                </a:solidFill>
                <a:latin typeface="Yu Gothic UI"/>
              </a:rPr>
              <a:t>📧  </a:t>
            </a:r>
            <a:r>
              <a:rPr sz="1800">
                <a:solidFill>
                  <a:srgbClr val="18181B"/>
                </a:solidFill>
                <a:latin typeface="Yu Gothic UI"/>
              </a:rPr>
              <a:t>メールで招待（Resend）→ リンクから参加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F38020"/>
                </a:solidFill>
                <a:latin typeface="Yu Gothic UI"/>
              </a:rPr>
              <a:t>📁  </a:t>
            </a:r>
            <a:r>
              <a:rPr sz="1800">
                <a:solidFill>
                  <a:srgbClr val="18181B"/>
                </a:solidFill>
                <a:latin typeface="Yu Gothic UI"/>
              </a:rPr>
              <a:t>既存プロジェクトをチームに割り当て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F38020"/>
                </a:solidFill>
                <a:latin typeface="Yu Gothic UI"/>
              </a:rPr>
              <a:t>🗑️  </a:t>
            </a:r>
            <a:r>
              <a:rPr sz="1800">
                <a:solidFill>
                  <a:srgbClr val="18181B"/>
                </a:solidFill>
                <a:latin typeface="Yu Gothic UI"/>
              </a:rPr>
              <a:t>キーワード入力による安全な削除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8181B"/>
                </a:solidFill>
                <a:latin typeface="Yu Gothic UI"/>
              </a:rPr>
              <a:t>📧 メール招待フロー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2926080" cy="508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4572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68580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8181B"/>
                </a:solidFill>
                <a:latin typeface="Yu Gothic UI"/>
              </a:rPr>
              <a:t>① オーナー / 管理者がメールを入力</a:t>
            </a:r>
          </a:p>
        </p:txBody>
      </p:sp>
      <p:sp>
        <p:nvSpPr>
          <p:cNvPr id="7" name="Down Arrow 6"/>
          <p:cNvSpPr/>
          <p:nvPr/>
        </p:nvSpPr>
        <p:spPr>
          <a:xfrm>
            <a:off x="3904488" y="2304288"/>
            <a:ext cx="329184" cy="128016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68580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8181B"/>
                </a:solidFill>
                <a:latin typeface="Yu Gothic UI"/>
              </a:rPr>
              <a:t>② 招待を DB に保存 ＋ Resend でメール送信</a:t>
            </a:r>
          </a:p>
        </p:txBody>
      </p:sp>
      <p:sp>
        <p:nvSpPr>
          <p:cNvPr id="9" name="Down Arrow 8"/>
          <p:cNvSpPr/>
          <p:nvPr/>
        </p:nvSpPr>
        <p:spPr>
          <a:xfrm>
            <a:off x="3904488" y="3218688"/>
            <a:ext cx="329184" cy="128016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68580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8181B"/>
                </a:solidFill>
                <a:latin typeface="Yu Gothic UI"/>
              </a:rPr>
              <a:t>③ 受信者がメール内リンクをクリック</a:t>
            </a:r>
          </a:p>
          <a:p>
            <a:pPr algn="ctr"/>
            <a:r>
              <a:rPr sz="1100">
                <a:solidFill>
                  <a:srgbClr val="52525B"/>
                </a:solidFill>
                <a:latin typeface="Yu Gothic UI"/>
              </a:rPr>
              <a:t>/invite?token=...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904488" y="4133088"/>
            <a:ext cx="329184" cy="128016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68580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8181B"/>
                </a:solidFill>
                <a:latin typeface="Yu Gothic UI"/>
              </a:rPr>
              <a:t>④ ログイン（招待メールとの一致を確認）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904488" y="5047488"/>
            <a:ext cx="329184" cy="128016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6858000" cy="713232"/>
          </a:xfrm>
          <a:prstGeom prst="roundRect">
            <a:avLst/>
          </a:prstGeom>
          <a:solidFill>
            <a:srgbClr val="FFF2E6"/>
          </a:solidFill>
          <a:ln w="19050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8181B"/>
                </a:solidFill>
                <a:latin typeface="Yu Gothic UI"/>
              </a:rPr>
              <a:t>⑤ 「承諾」→ チームメンバーに追加 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743200"/>
            <a:ext cx="3657600" cy="1828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2563EB"/>
                </a:solidFill>
                <a:latin typeface="Yu Gothic UI"/>
              </a:rPr>
              <a:t>🔒 セキュリティ</a:t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18181B"/>
                </a:solidFill>
                <a:latin typeface="Yu Gothic UI"/>
              </a:rPr>
              <a:t>招待メールとログイン中のアカウントが一致しないと承諾不可（なりすまし防止）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8181B"/>
                </a:solidFill>
                <a:latin typeface="Yu Gothic UI"/>
              </a:rPr>
              <a:t>🔐 役割と権限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2926080" cy="508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4572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5448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操作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owner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admin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member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閲覧（チーム / メンバー / プロジェクト）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招待 / 招待取消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✕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役割の変更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✕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✕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メンバー削除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✕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プロジェクト割当 / 解除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✕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チーム削除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✕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✕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669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※ 権限はフロント（UI 非表示）とバックエンド（API 検証）の両方でチェック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8181B"/>
                </a:solidFill>
                <a:latin typeface="Yu Gothic UI"/>
              </a:rPr>
              <a:t>⚡ パフォーマンスへの工夫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2926080" cy="508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4572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8181B"/>
                </a:solidFill>
                <a:latin typeface="Yu Gothic UI"/>
              </a:rPr>
              <a:t>Keyset（カーソル）ページネーションを採用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F38020"/>
                </a:solidFill>
                <a:latin typeface="Yu Gothic UI"/>
              </a:rPr>
              <a:t>▸  </a:t>
            </a:r>
            <a:r>
              <a:rPr sz="1700">
                <a:solidFill>
                  <a:srgbClr val="18181B"/>
                </a:solidFill>
                <a:latin typeface="Yu Gothic UI"/>
              </a:rPr>
              <a:t>OFFSET を使わず、(updated_at, id) をカーソルに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F38020"/>
                </a:solidFill>
                <a:latin typeface="Yu Gothic UI"/>
              </a:rPr>
              <a:t>▸  </a:t>
            </a:r>
            <a:r>
              <a:rPr sz="1700">
                <a:solidFill>
                  <a:srgbClr val="18181B"/>
                </a:solidFill>
                <a:latin typeface="Yu Gothic UI"/>
              </a:rPr>
              <a:t>インデックス idx_teams_updated を常に活用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F38020"/>
                </a:solidFill>
                <a:latin typeface="Yu Gothic UI"/>
              </a:rPr>
              <a:t>▸  </a:t>
            </a:r>
            <a:r>
              <a:rPr sz="1700">
                <a:solidFill>
                  <a:srgbClr val="18181B"/>
                </a:solidFill>
                <a:latin typeface="Yu Gothic UI"/>
              </a:rPr>
              <a:t>チームが 10件でも 100万件でも速度が一定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F38020"/>
                </a:solidFill>
                <a:latin typeface="Yu Gothic UI"/>
              </a:rPr>
              <a:t>▸  </a:t>
            </a:r>
            <a:r>
              <a:rPr sz="1700">
                <a:solidFill>
                  <a:srgbClr val="18181B"/>
                </a:solidFill>
                <a:latin typeface="Yu Gothic UI"/>
              </a:rPr>
              <a:t>一度に20件だけ取得し、スクロール時に追加読み込み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46320"/>
            <a:ext cx="11064240" cy="1280160"/>
          </a:xfrm>
          <a:prstGeom prst="rect">
            <a:avLst/>
          </a:prstGeom>
          <a:solidFill>
            <a:srgbClr val="1F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lnSpc>
                <a:spcPct val="100000"/>
              </a:lnSpc>
            </a:pPr>
            <a:r>
              <a:rPr sz="1400">
                <a:solidFill>
                  <a:srgbClr val="E4E4E7"/>
                </a:solidFill>
                <a:latin typeface="Consolas"/>
              </a:rPr>
              <a:t>WHERE (updated_at &lt; ? OR (updated_at = ? AND id &lt; ?))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E4E4E7"/>
                </a:solidFill>
                <a:latin typeface="Consolas"/>
              </a:rPr>
              <a:t>ORDER BY updated_at DESC, id DESC  LIMIT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8181B"/>
                </a:solidFill>
                <a:latin typeface="Yu Gothic UI"/>
              </a:rPr>
              <a:t>🌐 多言語対応（i18n）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2926080" cy="508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4572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52525B"/>
                </a:solidFill>
                <a:latin typeface="Yu Gothic UI"/>
              </a:rPr>
              <a:t>すべての文字列を辞書で管理し、ハードコードなし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286000"/>
          <a:ext cx="8686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言語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コード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状態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English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en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既定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日本語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ja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 完全対応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Tiếng Việt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vi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✅ 完全対応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754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F38020"/>
                </a:solidFill>
                <a:latin typeface="Yu Gothic UI"/>
              </a:rPr>
              <a:t>▸  </a:t>
            </a:r>
            <a:r>
              <a:rPr sz="1600">
                <a:solidFill>
                  <a:srgbClr val="18181B"/>
                </a:solidFill>
                <a:latin typeface="Yu Gothic UI"/>
              </a:rPr>
              <a:t>型安全な翻訳キー（TypeScript が漏れを検出）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F38020"/>
                </a:solidFill>
                <a:latin typeface="Yu Gothic UI"/>
              </a:rPr>
              <a:t>▸  </a:t>
            </a:r>
            <a:r>
              <a:rPr sz="1600">
                <a:solidFill>
                  <a:srgbClr val="18181B"/>
                </a:solidFill>
                <a:latin typeface="Yu Gothic UI"/>
              </a:rPr>
              <a:t>削除確認キーワードも言語別：XOA / DELETE / 削除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8181B"/>
                </a:solidFill>
                <a:latin typeface="Yu Gothic UI"/>
              </a:rPr>
              <a:t>🚀 デプロイ構成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2926080" cy="5080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4572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52525B"/>
                </a:solidFill>
                <a:latin typeface="Yu Gothic U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5448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部分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Yu Gothic UI"/>
                        </a:rPr>
                        <a:t>ホスティング</a:t>
                      </a:r>
                    </a:p>
                  </a:txBody>
                  <a:tcPr marL="109728" marR="73152" marT="36576" marB="36576" anchor="ctr">
                    <a:solidFill>
                      <a:srgbClr val="1818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フロントエンド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Vercel / Netlify / Cloudflare Pages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API (Worker)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Cloudflare Workers（エッジ）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データベース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Cloudflare D1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ファイル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Cloudflare R2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認証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Firebase（マネージド）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メール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8181B"/>
                          </a:solidFill>
                          <a:latin typeface="Yu Gothic UI"/>
                        </a:rPr>
                        <a:t>Resend</a:t>
                      </a:r>
                    </a:p>
                  </a:txBody>
                  <a:tcPr marL="109728" marR="73152" marT="36576" marB="36576" anchor="ctr"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532120"/>
            <a:ext cx="11064240" cy="777240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Yu Gothic UI"/>
              </a:rPr>
              <a:t>✅ 常時稼働サーバー不要・エグレス料金なし・グローバルに高速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0972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🙏 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38020"/>
                </a:solidFill>
                <a:latin typeface="Yu Gothic UI"/>
              </a:rPr>
              <a:t>Task Management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D4D4D8"/>
                </a:solidFill>
                <a:latin typeface="Yu Gothic UI"/>
              </a:rPr>
              <a:t>プロジェクト × タスク × チームを、ひとつのダッシュボードで。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2525B"/>
                </a:solidFill>
                <a:latin typeface="Yu Gothic UI"/>
              </a:rPr>
              <a:t>詳細ドキュメント: README.md / docs/teams-feature.md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